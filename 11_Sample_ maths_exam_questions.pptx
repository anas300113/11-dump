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8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3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7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1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8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0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6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8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9E05F-5C30-4AC0-A401-CE89BB6744E0}" type="datetimeFigureOut">
              <a:rPr lang="en-US" smtClean="0"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37A51-6EC8-42A0-9409-724BA55DF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0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11practicepapers.co.u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tm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70700" y="5565338"/>
            <a:ext cx="88864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D8"/>
                </a:solidFill>
              </a:rPr>
              <a:t>NOTE: This resource </a:t>
            </a:r>
            <a:r>
              <a:rPr lang="en-US" b="1" dirty="0" smtClean="0">
                <a:solidFill>
                  <a:srgbClr val="0000D8"/>
                </a:solidFill>
              </a:rPr>
              <a:t>is not permitted to be used, copied</a:t>
            </a:r>
            <a:r>
              <a:rPr lang="en-US" b="1" dirty="0">
                <a:solidFill>
                  <a:srgbClr val="0000D8"/>
                </a:solidFill>
              </a:rPr>
              <a:t> </a:t>
            </a:r>
            <a:r>
              <a:rPr lang="en-US" b="1" dirty="0" smtClean="0">
                <a:solidFill>
                  <a:srgbClr val="0000D8"/>
                </a:solidFill>
              </a:rPr>
              <a:t>and/or adapted by </a:t>
            </a:r>
            <a:r>
              <a:rPr lang="en-US" b="1" dirty="0">
                <a:solidFill>
                  <a:srgbClr val="0000D8"/>
                </a:solidFill>
              </a:rPr>
              <a:t>schools, tutors, tuition centres or any other form of educational </a:t>
            </a:r>
            <a:r>
              <a:rPr lang="en-US" b="1" dirty="0" smtClean="0">
                <a:solidFill>
                  <a:srgbClr val="0000D8"/>
                </a:solidFill>
              </a:rPr>
              <a:t>establishment </a:t>
            </a:r>
            <a:r>
              <a:rPr lang="en-US" b="1" smtClean="0">
                <a:solidFill>
                  <a:srgbClr val="0000D8"/>
                </a:solidFill>
              </a:rPr>
              <a:t>or person. </a:t>
            </a:r>
            <a:r>
              <a:rPr lang="en-US" b="1" dirty="0" smtClean="0">
                <a:solidFill>
                  <a:srgbClr val="0000D8"/>
                </a:solidFill>
              </a:rPr>
              <a:t>It must neither be passed on for free or sold for a fee by the purchaser or anybody else.</a:t>
            </a:r>
            <a:endParaRPr lang="en-US" dirty="0"/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-10346" y="2161185"/>
            <a:ext cx="121920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sz="4000" b="1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OVER 400 WORKED SOLUTIONS TO:</a:t>
            </a:r>
            <a:endParaRPr lang="en-GB" sz="40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endParaRPr lang="en-GB" sz="4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r>
              <a:rPr lang="en-GB" sz="40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11+ MATHS ENTRANCE EXAM QUESTIONS</a:t>
            </a:r>
            <a:endParaRPr lang="en-GB" sz="4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33754" y="6488668"/>
            <a:ext cx="4658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© Mistry </a:t>
            </a:r>
            <a:r>
              <a:rPr lang="en-US" dirty="0" smtClean="0"/>
              <a:t>Maths </a:t>
            </a:r>
            <a:r>
              <a:rPr lang="en-US" dirty="0" smtClean="0">
                <a:hlinkClick r:id="rId2"/>
              </a:rPr>
              <a:t>www.11practicepapers.co.uk</a:t>
            </a:r>
            <a:r>
              <a:rPr lang="en-US" dirty="0" smtClean="0"/>
              <a:t>   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74621" y="12513"/>
            <a:ext cx="2407033" cy="14039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9710"/>
            <a:ext cx="4739482" cy="13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2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44435" y="0"/>
            <a:ext cx="49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prstClr val="black"/>
                </a:solidFill>
              </a:rPr>
              <a:t>11+ MATHS ENTRANCE EXAM QUESTIONS</a:t>
            </a: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5" name="TextBox 39"/>
          <p:cNvSpPr txBox="1">
            <a:spLocks noChangeArrowheads="1"/>
          </p:cNvSpPr>
          <p:nvPr/>
        </p:nvSpPr>
        <p:spPr bwMode="auto">
          <a:xfrm>
            <a:off x="-1" y="219845"/>
            <a:ext cx="557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8)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099035" y="3451546"/>
            <a:ext cx="10298" cy="3406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8098221" y="400110"/>
            <a:ext cx="7881" cy="6457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" y="3429000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9"/>
          <p:cNvSpPr txBox="1">
            <a:spLocks noChangeArrowheads="1"/>
          </p:cNvSpPr>
          <p:nvPr/>
        </p:nvSpPr>
        <p:spPr bwMode="auto">
          <a:xfrm>
            <a:off x="10505" y="3368342"/>
            <a:ext cx="557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39"/>
          <p:cNvSpPr txBox="1">
            <a:spLocks noChangeArrowheads="1"/>
          </p:cNvSpPr>
          <p:nvPr/>
        </p:nvSpPr>
        <p:spPr bwMode="auto">
          <a:xfrm>
            <a:off x="4046997" y="3444800"/>
            <a:ext cx="557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39"/>
          <p:cNvSpPr txBox="1">
            <a:spLocks noChangeArrowheads="1"/>
          </p:cNvSpPr>
          <p:nvPr/>
        </p:nvSpPr>
        <p:spPr bwMode="auto">
          <a:xfrm>
            <a:off x="8072986" y="3457678"/>
            <a:ext cx="557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40"/>
              <p:cNvSpPr txBox="1">
                <a:spLocks noChangeArrowheads="1"/>
              </p:cNvSpPr>
              <p:nvPr/>
            </p:nvSpPr>
            <p:spPr bwMode="auto">
              <a:xfrm>
                <a:off x="408062" y="255261"/>
                <a:ext cx="3664693" cy="9469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800" b="1" dirty="0" smtClean="0">
                    <a:solidFill>
                      <a:prstClr val="black"/>
                    </a:solidFill>
                  </a:rPr>
                  <a:t>A new playground at school for Year 7 pupils is a square with an area of 64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 smtClean="0">
                    <a:solidFill>
                      <a:prstClr val="black"/>
                    </a:solidFill>
                  </a:rPr>
                  <a:t>.</a:t>
                </a:r>
                <a:endParaRPr lang="en-US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7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062" y="255261"/>
                <a:ext cx="3664693" cy="946991"/>
              </a:xfrm>
              <a:prstGeom prst="rect">
                <a:avLst/>
              </a:prstGeom>
              <a:blipFill rotWithShape="0">
                <a:blip r:embed="rId2"/>
                <a:stretch>
                  <a:fillRect l="-1498" t="-3871" r="-666" b="-77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39"/>
          <p:cNvSpPr txBox="1">
            <a:spLocks noChangeArrowheads="1"/>
          </p:cNvSpPr>
          <p:nvPr/>
        </p:nvSpPr>
        <p:spPr bwMode="auto">
          <a:xfrm>
            <a:off x="8113985" y="291664"/>
            <a:ext cx="557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49)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984" y="918376"/>
            <a:ext cx="2848937" cy="1803732"/>
          </a:xfrm>
          <a:prstGeom prst="rect">
            <a:avLst/>
          </a:prstGeom>
        </p:spPr>
      </p:pic>
      <p:sp>
        <p:nvSpPr>
          <p:cNvPr id="33" name="TextBox 40"/>
          <p:cNvSpPr txBox="1">
            <a:spLocks noChangeArrowheads="1"/>
          </p:cNvSpPr>
          <p:nvPr/>
        </p:nvSpPr>
        <p:spPr bwMode="auto">
          <a:xfrm>
            <a:off x="36785" y="2753991"/>
            <a:ext cx="39991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A new fence had to be built around the outside of the playground.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45" name="TextBox 40"/>
          <p:cNvSpPr txBox="1">
            <a:spLocks noChangeArrowheads="1"/>
          </p:cNvSpPr>
          <p:nvPr/>
        </p:nvSpPr>
        <p:spPr bwMode="auto">
          <a:xfrm>
            <a:off x="4074717" y="315839"/>
            <a:ext cx="40313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/>
              <a:t>Write down the length of one side of the square playground.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6" name="TextBox 40"/>
          <p:cNvSpPr txBox="1">
            <a:spLocks noChangeArrowheads="1"/>
          </p:cNvSpPr>
          <p:nvPr/>
        </p:nvSpPr>
        <p:spPr bwMode="auto">
          <a:xfrm>
            <a:off x="4066835" y="1872419"/>
            <a:ext cx="40313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/>
              <a:t>Find the perimeter of the square.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7" name="TextBox 40"/>
          <p:cNvSpPr txBox="1">
            <a:spLocks noChangeArrowheads="1"/>
          </p:cNvSpPr>
          <p:nvPr/>
        </p:nvSpPr>
        <p:spPr bwMode="auto">
          <a:xfrm>
            <a:off x="8540957" y="315839"/>
            <a:ext cx="40313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Write down the next two numbers in the sequence.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8" name="TextBox 40"/>
          <p:cNvSpPr txBox="1">
            <a:spLocks noChangeArrowheads="1"/>
          </p:cNvSpPr>
          <p:nvPr/>
        </p:nvSpPr>
        <p:spPr bwMode="auto">
          <a:xfrm>
            <a:off x="9001450" y="1126052"/>
            <a:ext cx="25967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0, 1, 4, 9, 16, ……. , …….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9" name="TextBox 40"/>
          <p:cNvSpPr txBox="1">
            <a:spLocks noChangeArrowheads="1"/>
          </p:cNvSpPr>
          <p:nvPr/>
        </p:nvSpPr>
        <p:spPr bwMode="auto">
          <a:xfrm>
            <a:off x="409557" y="3383731"/>
            <a:ext cx="26453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From the numbers: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51" name="TextBox 40"/>
          <p:cNvSpPr txBox="1">
            <a:spLocks noChangeArrowheads="1"/>
          </p:cNvSpPr>
          <p:nvPr/>
        </p:nvSpPr>
        <p:spPr bwMode="auto">
          <a:xfrm>
            <a:off x="770200" y="3673346"/>
            <a:ext cx="24761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1, 2, 3, 4, 5, 9, 12, 14, 15, 16, 20, 21, 27, 30, 50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53" name="TextBox 40"/>
          <p:cNvSpPr txBox="1">
            <a:spLocks noChangeArrowheads="1"/>
          </p:cNvSpPr>
          <p:nvPr/>
        </p:nvSpPr>
        <p:spPr bwMode="auto">
          <a:xfrm>
            <a:off x="-59133" y="4275301"/>
            <a:ext cx="2745183" cy="36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/>
              <a:t>List the prime numbers.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54" name="TextBox 40"/>
          <p:cNvSpPr txBox="1">
            <a:spLocks noChangeArrowheads="1"/>
          </p:cNvSpPr>
          <p:nvPr/>
        </p:nvSpPr>
        <p:spPr bwMode="auto">
          <a:xfrm>
            <a:off x="-33192" y="5016803"/>
            <a:ext cx="32184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/>
              <a:t>List all the multiples of 7.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55" name="TextBox 40"/>
          <p:cNvSpPr txBox="1">
            <a:spLocks noChangeArrowheads="1"/>
          </p:cNvSpPr>
          <p:nvPr/>
        </p:nvSpPr>
        <p:spPr bwMode="auto">
          <a:xfrm>
            <a:off x="-34840" y="5646812"/>
            <a:ext cx="2745183" cy="36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(c) </a:t>
            </a:r>
            <a:r>
              <a:rPr lang="en-US" sz="1800" b="1" dirty="0" smtClean="0"/>
              <a:t>List all the factors of 50.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56" name="TextBox 40"/>
          <p:cNvSpPr txBox="1">
            <a:spLocks noChangeArrowheads="1"/>
          </p:cNvSpPr>
          <p:nvPr/>
        </p:nvSpPr>
        <p:spPr bwMode="auto">
          <a:xfrm>
            <a:off x="-22035" y="6225521"/>
            <a:ext cx="32717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(d) </a:t>
            </a:r>
            <a:r>
              <a:rPr lang="en-US" sz="1800" b="1" dirty="0" smtClean="0"/>
              <a:t>List all the square numbers.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5" name="TextBox 40"/>
          <p:cNvSpPr txBox="1">
            <a:spLocks noChangeArrowheads="1"/>
          </p:cNvSpPr>
          <p:nvPr/>
        </p:nvSpPr>
        <p:spPr bwMode="auto">
          <a:xfrm>
            <a:off x="4442479" y="3427935"/>
            <a:ext cx="399918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From the list of measurements below choose one to complete each of the sentences.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4724630" y="4269584"/>
            <a:ext cx="7059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1.4m</a:t>
            </a:r>
            <a:endParaRPr lang="en-US" sz="1800" b="1" dirty="0"/>
          </a:p>
        </p:txBody>
      </p:sp>
      <p:sp>
        <p:nvSpPr>
          <p:cNvPr id="27" name="TextBox 40"/>
          <p:cNvSpPr txBox="1">
            <a:spLocks noChangeArrowheads="1"/>
          </p:cNvSpPr>
          <p:nvPr/>
        </p:nvSpPr>
        <p:spPr bwMode="auto">
          <a:xfrm>
            <a:off x="5861520" y="4251520"/>
            <a:ext cx="7059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/>
              <a:t>8</a:t>
            </a:r>
            <a:r>
              <a:rPr lang="en-US" sz="1800" b="1" dirty="0" smtClean="0"/>
              <a:t>5kg</a:t>
            </a:r>
            <a:endParaRPr lang="en-US" sz="1800" b="1" dirty="0"/>
          </a:p>
        </p:txBody>
      </p:sp>
      <p:sp>
        <p:nvSpPr>
          <p:cNvPr id="28" name="TextBox 40"/>
          <p:cNvSpPr txBox="1">
            <a:spLocks noChangeArrowheads="1"/>
          </p:cNvSpPr>
          <p:nvPr/>
        </p:nvSpPr>
        <p:spPr bwMode="auto">
          <a:xfrm>
            <a:off x="5779985" y="4559271"/>
            <a:ext cx="10692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/>
              <a:t>5</a:t>
            </a:r>
            <a:r>
              <a:rPr lang="en-US" sz="1800" b="1" dirty="0" smtClean="0"/>
              <a:t>0litres</a:t>
            </a:r>
            <a:endParaRPr lang="en-US" sz="1800" b="1" dirty="0"/>
          </a:p>
        </p:txBody>
      </p:sp>
      <p:sp>
        <p:nvSpPr>
          <p:cNvPr id="29" name="TextBox 40"/>
          <p:cNvSpPr txBox="1">
            <a:spLocks noChangeArrowheads="1"/>
          </p:cNvSpPr>
          <p:nvPr/>
        </p:nvSpPr>
        <p:spPr bwMode="auto">
          <a:xfrm>
            <a:off x="6858843" y="4280031"/>
            <a:ext cx="9088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450cm</a:t>
            </a:r>
            <a:endParaRPr lang="en-US" sz="1800" b="1" dirty="0"/>
          </a:p>
        </p:txBody>
      </p:sp>
      <p:sp>
        <p:nvSpPr>
          <p:cNvPr id="31" name="TextBox 40"/>
          <p:cNvSpPr txBox="1">
            <a:spLocks noChangeArrowheads="1"/>
          </p:cNvSpPr>
          <p:nvPr/>
        </p:nvSpPr>
        <p:spPr bwMode="auto">
          <a:xfrm>
            <a:off x="6875966" y="4565128"/>
            <a:ext cx="7715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3000g</a:t>
            </a:r>
            <a:endParaRPr lang="en-US" sz="1800" b="1" dirty="0"/>
          </a:p>
        </p:txBody>
      </p:sp>
      <p:sp>
        <p:nvSpPr>
          <p:cNvPr id="32" name="TextBox 40"/>
          <p:cNvSpPr txBox="1">
            <a:spLocks noChangeArrowheads="1"/>
          </p:cNvSpPr>
          <p:nvPr/>
        </p:nvSpPr>
        <p:spPr bwMode="auto">
          <a:xfrm>
            <a:off x="4734216" y="4540407"/>
            <a:ext cx="7059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10ml</a:t>
            </a:r>
            <a:endParaRPr lang="en-US" sz="1800" b="1" dirty="0"/>
          </a:p>
        </p:txBody>
      </p:sp>
      <p:sp>
        <p:nvSpPr>
          <p:cNvPr id="34" name="TextBox 40"/>
          <p:cNvSpPr txBox="1">
            <a:spLocks noChangeArrowheads="1"/>
          </p:cNvSpPr>
          <p:nvPr/>
        </p:nvSpPr>
        <p:spPr bwMode="auto">
          <a:xfrm>
            <a:off x="4085722" y="4841384"/>
            <a:ext cx="40124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/>
              <a:t>The saleswoman filled her car with ________ of petrol.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5" name="TextBox 40"/>
          <p:cNvSpPr txBox="1">
            <a:spLocks noChangeArrowheads="1"/>
          </p:cNvSpPr>
          <p:nvPr/>
        </p:nvSpPr>
        <p:spPr bwMode="auto">
          <a:xfrm>
            <a:off x="4109333" y="5405909"/>
            <a:ext cx="401249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/>
              <a:t>Only people who were taller than ________ were allowed to go on the rollercoaster.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6" name="TextBox 40"/>
          <p:cNvSpPr txBox="1">
            <a:spLocks noChangeArrowheads="1"/>
          </p:cNvSpPr>
          <p:nvPr/>
        </p:nvSpPr>
        <p:spPr bwMode="auto">
          <a:xfrm>
            <a:off x="4099034" y="6231033"/>
            <a:ext cx="40124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(c) </a:t>
            </a:r>
            <a:r>
              <a:rPr lang="en-US" sz="1800" b="1" dirty="0" smtClean="0"/>
              <a:t>Rebecca weighed ________ when she was born.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7" name="TextBox 40"/>
          <p:cNvSpPr txBox="1">
            <a:spLocks noChangeArrowheads="1"/>
          </p:cNvSpPr>
          <p:nvPr/>
        </p:nvSpPr>
        <p:spPr bwMode="auto">
          <a:xfrm>
            <a:off x="8484301" y="3451546"/>
            <a:ext cx="37076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If 135 x 44 = 5940, write down, without calculating, the value of</a:t>
            </a:r>
            <a:r>
              <a:rPr lang="en-US" sz="1800" b="1" dirty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38" name="TextBox 40"/>
          <p:cNvSpPr txBox="1">
            <a:spLocks noChangeArrowheads="1"/>
          </p:cNvSpPr>
          <p:nvPr/>
        </p:nvSpPr>
        <p:spPr bwMode="auto">
          <a:xfrm>
            <a:off x="8075393" y="3995743"/>
            <a:ext cx="17853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/>
              <a:t>1350 x 44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9" name="TextBox 40"/>
          <p:cNvSpPr txBox="1">
            <a:spLocks noChangeArrowheads="1"/>
          </p:cNvSpPr>
          <p:nvPr/>
        </p:nvSpPr>
        <p:spPr bwMode="auto">
          <a:xfrm>
            <a:off x="8098220" y="4932637"/>
            <a:ext cx="17853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/>
              <a:t>135 x 4.4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0" name="TextBox 40"/>
          <p:cNvSpPr txBox="1">
            <a:spLocks noChangeArrowheads="1"/>
          </p:cNvSpPr>
          <p:nvPr/>
        </p:nvSpPr>
        <p:spPr bwMode="auto">
          <a:xfrm>
            <a:off x="8099004" y="5796638"/>
            <a:ext cx="17853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(c) </a:t>
            </a:r>
            <a:r>
              <a:rPr lang="en-US" sz="1800" b="1" dirty="0" smtClean="0"/>
              <a:t>5940 </a:t>
            </a:r>
            <a:r>
              <a:rPr lang="en-US" sz="1800" b="1" dirty="0"/>
              <a:t>÷</a:t>
            </a:r>
            <a:r>
              <a:rPr lang="en-US" sz="1800" b="1" dirty="0" smtClean="0"/>
              <a:t> 13.5</a:t>
            </a:r>
            <a:endParaRPr lang="en-US" sz="1800" b="1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529261" y="1095416"/>
            <a:ext cx="969269" cy="658637"/>
            <a:chOff x="5390150" y="1126052"/>
            <a:chExt cx="969269" cy="658637"/>
          </a:xfrm>
        </p:grpSpPr>
        <p:sp>
          <p:nvSpPr>
            <p:cNvPr id="3" name="Rectangle 2"/>
            <p:cNvSpPr/>
            <p:nvPr/>
          </p:nvSpPr>
          <p:spPr>
            <a:xfrm>
              <a:off x="5440133" y="1126052"/>
              <a:ext cx="787246" cy="6586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5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90150" y="1282555"/>
              <a:ext cx="9692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</a:rPr>
                <a:t>SQUARE</a:t>
              </a:r>
              <a:endParaRPr lang="en-US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2" name="Oval 41"/>
          <p:cNvSpPr/>
          <p:nvPr/>
        </p:nvSpPr>
        <p:spPr>
          <a:xfrm>
            <a:off x="455813" y="796051"/>
            <a:ext cx="665828" cy="37818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225079" y="615907"/>
            <a:ext cx="2006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Find the number which multiplies by itself to make 64.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08864" y="804166"/>
            <a:ext cx="604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8cm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18672" y="1224457"/>
            <a:ext cx="604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8cm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435489" y="1486826"/>
            <a:ext cx="14541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Length = 8cm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693098" y="2169895"/>
            <a:ext cx="2920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Perimeter is the length all the way around a shape.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85563" y="2688776"/>
            <a:ext cx="261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Perimeter = 8 + 8 + 8 + 8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472421" y="2965242"/>
            <a:ext cx="1872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Perimeter = 32cm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460302" y="1671492"/>
            <a:ext cx="3587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This is a sequence of square numbers.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62318" y="2029438"/>
            <a:ext cx="11312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0 x 0 = 0</a:t>
            </a:r>
          </a:p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1 x 1 = 1</a:t>
            </a:r>
          </a:p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2 x 2 = 4</a:t>
            </a:r>
          </a:p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3 x 3 = 9</a:t>
            </a:r>
          </a:p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4 x 4 = 16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56895" y="2036345"/>
            <a:ext cx="97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5 </a:t>
            </a:r>
            <a:r>
              <a:rPr lang="en-US" sz="1600" dirty="0">
                <a:solidFill>
                  <a:srgbClr val="FF0000"/>
                </a:solidFill>
              </a:rPr>
              <a:t>x </a:t>
            </a:r>
            <a:r>
              <a:rPr lang="en-US" sz="1600" dirty="0" smtClean="0">
                <a:solidFill>
                  <a:srgbClr val="FF0000"/>
                </a:solidFill>
              </a:rPr>
              <a:t>5 </a:t>
            </a:r>
            <a:r>
              <a:rPr lang="en-US" sz="1600" dirty="0">
                <a:solidFill>
                  <a:srgbClr val="FF0000"/>
                </a:solidFill>
              </a:rPr>
              <a:t>= </a:t>
            </a:r>
            <a:r>
              <a:rPr lang="en-US" sz="1600" dirty="0" smtClean="0">
                <a:solidFill>
                  <a:srgbClr val="FF0000"/>
                </a:solidFill>
              </a:rPr>
              <a:t>25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299806" y="103979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25</a:t>
            </a:r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10831769" y="103577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36</a:t>
            </a:r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10269374" y="2288184"/>
            <a:ext cx="97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6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x 6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= </a:t>
            </a:r>
            <a:r>
              <a:rPr lang="en-US" sz="1600" dirty="0" smtClean="0">
                <a:solidFill>
                  <a:srgbClr val="FF0000"/>
                </a:solidFill>
              </a:rPr>
              <a:t>36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5595" y="4554767"/>
            <a:ext cx="3587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Prime numbers only have two factors. They are 1 and itself.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601811" y="428389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2, 3 and 5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8856" y="5321740"/>
            <a:ext cx="3587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N</a:t>
            </a:r>
            <a:r>
              <a:rPr lang="en-US" sz="1600" dirty="0" smtClean="0">
                <a:solidFill>
                  <a:srgbClr val="00B050"/>
                </a:solidFill>
              </a:rPr>
              <a:t>umbers in the 7 times table.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708070" y="5004272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14 and 21 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2295" y="5939787"/>
            <a:ext cx="3587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All the numbers which go into 50 exactly.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550922" y="5638443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1, 2, 5 &amp; 50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99408" y="6496087"/>
            <a:ext cx="3587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Look at the numbers in question 49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926987" y="6213569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1, 4, 9 &amp; 16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147479" y="5088440"/>
            <a:ext cx="949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50 litres</a:t>
            </a:r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4343783" y="5647003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1.4m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6239732" y="6197393"/>
            <a:ext cx="949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3000g</a:t>
            </a:r>
            <a:endParaRPr lang="en-US" dirty="0"/>
          </a:p>
        </p:txBody>
      </p:sp>
      <p:sp>
        <p:nvSpPr>
          <p:cNvPr id="76" name="Oval 75"/>
          <p:cNvSpPr/>
          <p:nvPr/>
        </p:nvSpPr>
        <p:spPr>
          <a:xfrm>
            <a:off x="8411569" y="4023591"/>
            <a:ext cx="1072323" cy="34380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8710810" y="3478928"/>
            <a:ext cx="886217" cy="312545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8260719" y="4367391"/>
            <a:ext cx="2571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This is 10 times bigger.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483778" y="3997378"/>
            <a:ext cx="949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= 59400</a:t>
            </a:r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8429499" y="4955917"/>
            <a:ext cx="1072323" cy="34380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8278649" y="5299717"/>
            <a:ext cx="2571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This is 10 times smaller.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9501708" y="4929704"/>
            <a:ext cx="949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= 594</a:t>
            </a:r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8439162" y="5830662"/>
            <a:ext cx="550271" cy="312545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9719103" y="3494949"/>
            <a:ext cx="550271" cy="312545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9120967" y="5842219"/>
            <a:ext cx="500246" cy="284132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704410" y="3505783"/>
            <a:ext cx="454769" cy="284132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8285172" y="6192754"/>
            <a:ext cx="2571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This is 10 times bigger.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9570697" y="5775570"/>
            <a:ext cx="949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= 440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6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50" grpId="0"/>
      <p:bldP spid="52" grpId="0"/>
      <p:bldP spid="57" grpId="0"/>
      <p:bldP spid="58" grpId="0"/>
      <p:bldP spid="59" grpId="0"/>
      <p:bldP spid="60" grpId="0"/>
      <p:bldP spid="61" grpId="0"/>
      <p:bldP spid="8" grpId="0"/>
      <p:bldP spid="12" grpId="0"/>
      <p:bldP spid="63" grpId="0"/>
      <p:bldP spid="64" grpId="0"/>
      <p:bldP spid="65" grpId="0"/>
      <p:bldP spid="66" grpId="0"/>
      <p:bldP spid="67" grpId="0"/>
      <p:bldP spid="68" grpId="0"/>
      <p:bldP spid="62" grpId="0"/>
      <p:bldP spid="69" grpId="0"/>
      <p:bldP spid="70" grpId="0"/>
      <p:bldP spid="71" grpId="0"/>
      <p:bldP spid="73" grpId="0"/>
      <p:bldP spid="74" grpId="0"/>
      <p:bldP spid="75" grpId="0"/>
      <p:bldP spid="76" grpId="0" animBg="1"/>
      <p:bldP spid="77" grpId="0" animBg="1"/>
      <p:bldP spid="77" grpId="1" animBg="1"/>
      <p:bldP spid="78" grpId="0"/>
      <p:bldP spid="79" grpId="0"/>
      <p:bldP spid="80" grpId="0" animBg="1"/>
      <p:bldP spid="81" grpId="0"/>
      <p:bldP spid="82" grpId="0"/>
      <p:bldP spid="83" grpId="0" animBg="1"/>
      <p:bldP spid="84" grpId="0" animBg="1"/>
      <p:bldP spid="85" grpId="0" animBg="1"/>
      <p:bldP spid="86" grpId="0" animBg="1"/>
      <p:bldP spid="87" grpId="0"/>
      <p:bldP spid="8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26069" y="0"/>
            <a:ext cx="49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prstClr val="black"/>
                </a:solidFill>
              </a:rPr>
              <a:t>11+ MATHS ENTRANCE EXAM QUESTIONS</a:t>
            </a: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5" name="TextBox 39"/>
          <p:cNvSpPr txBox="1">
            <a:spLocks noChangeArrowheads="1"/>
          </p:cNvSpPr>
          <p:nvPr/>
        </p:nvSpPr>
        <p:spPr bwMode="auto">
          <a:xfrm>
            <a:off x="-94597" y="263693"/>
            <a:ext cx="7350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234)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066023" y="3419589"/>
            <a:ext cx="1" cy="3429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129752" y="250463"/>
            <a:ext cx="45257" cy="3171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9"/>
          <p:cNvSpPr txBox="1">
            <a:spLocks noChangeArrowheads="1"/>
          </p:cNvSpPr>
          <p:nvPr/>
        </p:nvSpPr>
        <p:spPr bwMode="auto">
          <a:xfrm>
            <a:off x="8057497" y="158447"/>
            <a:ext cx="7350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235)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39"/>
          <p:cNvSpPr txBox="1">
            <a:spLocks noChangeArrowheads="1"/>
          </p:cNvSpPr>
          <p:nvPr/>
        </p:nvSpPr>
        <p:spPr bwMode="auto">
          <a:xfrm>
            <a:off x="10505" y="3443068"/>
            <a:ext cx="7350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236)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39"/>
          <p:cNvSpPr txBox="1">
            <a:spLocks noChangeArrowheads="1"/>
          </p:cNvSpPr>
          <p:nvPr/>
        </p:nvSpPr>
        <p:spPr bwMode="auto">
          <a:xfrm>
            <a:off x="4041223" y="3453575"/>
            <a:ext cx="7350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237)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1" y="3429000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40"/>
          <p:cNvSpPr txBox="1">
            <a:spLocks noChangeArrowheads="1"/>
          </p:cNvSpPr>
          <p:nvPr/>
        </p:nvSpPr>
        <p:spPr bwMode="auto">
          <a:xfrm>
            <a:off x="440746" y="263693"/>
            <a:ext cx="412667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Hannah went shopping and bought three dresses for £27.50 each and two large chocolate bars for £1.40 each. How much change did Hannah get from £100?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17" y="1480093"/>
            <a:ext cx="1729853" cy="18646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140" y="1615570"/>
            <a:ext cx="2270894" cy="15621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822" y="809887"/>
            <a:ext cx="3728584" cy="1991761"/>
          </a:xfrm>
          <a:prstGeom prst="rect">
            <a:avLst/>
          </a:prstGeom>
        </p:spPr>
      </p:pic>
      <p:sp>
        <p:nvSpPr>
          <p:cNvPr id="35" name="TextBox 40"/>
          <p:cNvSpPr txBox="1">
            <a:spLocks noChangeArrowheads="1"/>
          </p:cNvSpPr>
          <p:nvPr/>
        </p:nvSpPr>
        <p:spPr bwMode="auto">
          <a:xfrm>
            <a:off x="8581533" y="206196"/>
            <a:ext cx="37962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Work out the value of angle x below:</a:t>
            </a:r>
          </a:p>
        </p:txBody>
      </p:sp>
      <p:sp>
        <p:nvSpPr>
          <p:cNvPr id="36" name="TextBox 40"/>
          <p:cNvSpPr txBox="1">
            <a:spLocks noChangeArrowheads="1"/>
          </p:cNvSpPr>
          <p:nvPr/>
        </p:nvSpPr>
        <p:spPr bwMode="auto">
          <a:xfrm>
            <a:off x="554961" y="3453574"/>
            <a:ext cx="354407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Andrew, Boris and Cuthbert share a bag of sweets. Andrew gets 5 more sweets than Boris and Cuthbert gets twice as many sweets as Andrew. Cuthbert gets 22 sweets. How many sweets are in the bag?</a:t>
            </a:r>
            <a:endParaRPr lang="en-US" sz="1800" b="1" dirty="0"/>
          </a:p>
        </p:txBody>
      </p:sp>
      <p:pic>
        <p:nvPicPr>
          <p:cNvPr id="37" name="Picture 3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282" y="3578554"/>
            <a:ext cx="3667362" cy="321781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302368" y="3581855"/>
            <a:ext cx="38896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(a) </a:t>
            </a:r>
            <a:r>
              <a:rPr lang="en-US" b="1" dirty="0" smtClean="0">
                <a:solidFill>
                  <a:srgbClr val="000000"/>
                </a:solidFill>
              </a:rPr>
              <a:t>Plot the points (3,1),(3,5),(-2,1) and (-2,5) and join them up to make a rectangle.</a:t>
            </a:r>
          </a:p>
          <a:p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95713" y="4844398"/>
            <a:ext cx="3889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(b) </a:t>
            </a:r>
            <a:r>
              <a:rPr lang="en-US" b="1" dirty="0" smtClean="0">
                <a:solidFill>
                  <a:srgbClr val="000000"/>
                </a:solidFill>
              </a:rPr>
              <a:t>What is the area of the rectangle?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16679" y="5912156"/>
            <a:ext cx="3889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(c) </a:t>
            </a:r>
            <a:r>
              <a:rPr lang="en-US" b="1" dirty="0" smtClean="0">
                <a:solidFill>
                  <a:srgbClr val="000000"/>
                </a:solidFill>
              </a:rPr>
              <a:t>Reflect the rectangle in the x-axis and draw out the image.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9094" y="340423"/>
            <a:ext cx="103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2  7  5  0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94355" y="347457"/>
            <a:ext cx="35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706" y="623462"/>
            <a:ext cx="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4957497" y="663803"/>
            <a:ext cx="106255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970944" y="934938"/>
            <a:ext cx="106255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 flipV="1">
            <a:off x="5820236" y="450045"/>
            <a:ext cx="4941" cy="4850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 flipV="1">
            <a:off x="5609048" y="442891"/>
            <a:ext cx="4941" cy="4850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5393683" y="456891"/>
            <a:ext cx="4941" cy="4850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5164768" y="442890"/>
            <a:ext cx="4941" cy="4850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4964099" y="452855"/>
            <a:ext cx="4941" cy="4850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613989" y="663684"/>
            <a:ext cx="223974" cy="2683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394320" y="669306"/>
            <a:ext cx="223974" cy="2683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179464" y="652563"/>
            <a:ext cx="223974" cy="2683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4964315" y="659597"/>
            <a:ext cx="223974" cy="2683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21283" y="587890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89105" y="704243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29538" y="594923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21923" y="699410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50220" y="591107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43676" y="701129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5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67953" y="594111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59971" y="703381"/>
            <a:ext cx="2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87380" y="853298"/>
            <a:ext cx="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59217" y="847437"/>
            <a:ext cx="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138836" y="856350"/>
            <a:ext cx="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12704" y="850968"/>
            <a:ext cx="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14199" y="601112"/>
            <a:ext cx="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5361000" y="502353"/>
            <a:ext cx="66495" cy="9527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5898386" y="901575"/>
            <a:ext cx="66495" cy="9527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/>
          <p:cNvCxnSpPr/>
          <p:nvPr/>
        </p:nvCxnSpPr>
        <p:spPr>
          <a:xfrm flipH="1">
            <a:off x="5391314" y="603655"/>
            <a:ext cx="696" cy="3324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5376118" y="929131"/>
            <a:ext cx="509934" cy="93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372744" y="1005464"/>
            <a:ext cx="54955" cy="6507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4989105" y="1159641"/>
            <a:ext cx="86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£82.50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552426" y="340423"/>
            <a:ext cx="1103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£1.40 x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00138" y="579879"/>
            <a:ext cx="40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=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555820" y="579879"/>
            <a:ext cx="75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£2.80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926379" y="1772534"/>
            <a:ext cx="972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8 2 . 5 0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104428" y="1988338"/>
            <a:ext cx="75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2 . 8 0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4864034" y="2308737"/>
            <a:ext cx="961668" cy="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884814" y="2603043"/>
            <a:ext cx="9570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784388" y="1965361"/>
            <a:ext cx="4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3094" y="226805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5384619" y="226805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5042832" y="166108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5277437" y="2274027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5113660" y="226805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4934983" y="22730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8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6471926" y="1542928"/>
            <a:ext cx="116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0 0 . 0 0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633735" y="1787278"/>
            <a:ext cx="116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 . 3 0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 flipV="1">
            <a:off x="6491186" y="2104878"/>
            <a:ext cx="980998" cy="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6512013" y="2399184"/>
            <a:ext cx="9762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349955" y="1761502"/>
            <a:ext cx="4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8725" y="205167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US" dirty="0"/>
          </a:p>
        </p:txBody>
      </p:sp>
      <p:cxnSp>
        <p:nvCxnSpPr>
          <p:cNvPr id="86" name="Straight Connector 85"/>
          <p:cNvCxnSpPr/>
          <p:nvPr/>
        </p:nvCxnSpPr>
        <p:spPr>
          <a:xfrm flipV="1">
            <a:off x="6563637" y="1659119"/>
            <a:ext cx="108970" cy="150277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6377687" y="1469018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/>
          </a:p>
        </p:txBody>
      </p:sp>
      <p:sp>
        <p:nvSpPr>
          <p:cNvPr id="88" name="Rectangle 87"/>
          <p:cNvSpPr/>
          <p:nvPr/>
        </p:nvSpPr>
        <p:spPr>
          <a:xfrm>
            <a:off x="6580394" y="152886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</a:t>
            </a:r>
            <a:endParaRPr lang="en-US" sz="1400" dirty="0"/>
          </a:p>
        </p:txBody>
      </p:sp>
      <p:cxnSp>
        <p:nvCxnSpPr>
          <p:cNvPr id="89" name="Straight Connector 88"/>
          <p:cNvCxnSpPr/>
          <p:nvPr/>
        </p:nvCxnSpPr>
        <p:spPr>
          <a:xfrm flipV="1">
            <a:off x="6703273" y="1649824"/>
            <a:ext cx="131854" cy="16530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637677" y="140654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91" name="Rectangle 90"/>
          <p:cNvSpPr/>
          <p:nvPr/>
        </p:nvSpPr>
        <p:spPr>
          <a:xfrm>
            <a:off x="6744669" y="1538758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</a:t>
            </a:r>
            <a:endParaRPr lang="en-US" sz="1400" dirty="0"/>
          </a:p>
        </p:txBody>
      </p:sp>
      <p:cxnSp>
        <p:nvCxnSpPr>
          <p:cNvPr id="92" name="Straight Connector 91"/>
          <p:cNvCxnSpPr/>
          <p:nvPr/>
        </p:nvCxnSpPr>
        <p:spPr>
          <a:xfrm flipV="1">
            <a:off x="6867548" y="1647845"/>
            <a:ext cx="131854" cy="16530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790077" y="1404562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94" name="Rectangle 93"/>
          <p:cNvSpPr/>
          <p:nvPr/>
        </p:nvSpPr>
        <p:spPr>
          <a:xfrm>
            <a:off x="7006093" y="154971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</a:t>
            </a:r>
            <a:endParaRPr lang="en-US" sz="1400" dirty="0"/>
          </a:p>
        </p:txBody>
      </p:sp>
      <p:sp>
        <p:nvSpPr>
          <p:cNvPr id="95" name="Rectangle 94"/>
          <p:cNvSpPr/>
          <p:nvPr/>
        </p:nvSpPr>
        <p:spPr>
          <a:xfrm>
            <a:off x="7066817" y="206181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</a:t>
            </a:r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6973631" y="2058292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6802358" y="205829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6626325" y="205905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>
            <a:off x="6491186" y="2564872"/>
            <a:ext cx="1043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£14.70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00" name="Freeform 99"/>
          <p:cNvSpPr/>
          <p:nvPr/>
        </p:nvSpPr>
        <p:spPr>
          <a:xfrm>
            <a:off x="9452758" y="2315688"/>
            <a:ext cx="195270" cy="344385"/>
          </a:xfrm>
          <a:custGeom>
            <a:avLst/>
            <a:gdLst>
              <a:gd name="connsiteX0" fmla="*/ 0 w 195270"/>
              <a:gd name="connsiteY0" fmla="*/ 0 h 344385"/>
              <a:gd name="connsiteX1" fmla="*/ 178130 w 195270"/>
              <a:gd name="connsiteY1" fmla="*/ 178130 h 344385"/>
              <a:gd name="connsiteX2" fmla="*/ 178130 w 195270"/>
              <a:gd name="connsiteY2" fmla="*/ 344385 h 344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70" h="344385">
                <a:moveTo>
                  <a:pt x="0" y="0"/>
                </a:moveTo>
                <a:cubicBezTo>
                  <a:pt x="74221" y="60366"/>
                  <a:pt x="148442" y="120733"/>
                  <a:pt x="178130" y="178130"/>
                </a:cubicBezTo>
                <a:cubicBezTo>
                  <a:pt x="207818" y="235528"/>
                  <a:pt x="192974" y="289956"/>
                  <a:pt x="178130" y="344385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8489019" y="2677468"/>
            <a:ext cx="351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Angles on a straight line add up to 180</a:t>
            </a:r>
            <a:r>
              <a:rPr lang="en-US" sz="1600" dirty="0" smtClean="0">
                <a:solidFill>
                  <a:srgbClr val="00B050"/>
                </a:solidFill>
                <a:latin typeface="Calibri" panose="020F0502020204030204" pitchFamily="34" charset="0"/>
              </a:rPr>
              <a:t>°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549069" y="2203380"/>
            <a:ext cx="55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3" name="Freeform 102"/>
          <p:cNvSpPr/>
          <p:nvPr/>
        </p:nvSpPr>
        <p:spPr>
          <a:xfrm>
            <a:off x="10462161" y="2299028"/>
            <a:ext cx="409045" cy="337294"/>
          </a:xfrm>
          <a:custGeom>
            <a:avLst/>
            <a:gdLst>
              <a:gd name="connsiteX0" fmla="*/ 0 w 439387"/>
              <a:gd name="connsiteY0" fmla="*/ 344384 h 344384"/>
              <a:gd name="connsiteX1" fmla="*/ 95003 w 439387"/>
              <a:gd name="connsiteY1" fmla="*/ 106878 h 344384"/>
              <a:gd name="connsiteX2" fmla="*/ 439387 w 439387"/>
              <a:gd name="connsiteY2" fmla="*/ 0 h 34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9387" h="344384">
                <a:moveTo>
                  <a:pt x="0" y="344384"/>
                </a:moveTo>
                <a:cubicBezTo>
                  <a:pt x="10886" y="254329"/>
                  <a:pt x="21772" y="164275"/>
                  <a:pt x="95003" y="106878"/>
                </a:cubicBezTo>
                <a:cubicBezTo>
                  <a:pt x="168234" y="49481"/>
                  <a:pt x="303810" y="24740"/>
                  <a:pt x="439387" y="0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10077225" y="2094798"/>
            <a:ext cx="65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105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485603" y="2924701"/>
            <a:ext cx="351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Angles in a triangle add up to 180</a:t>
            </a:r>
            <a:r>
              <a:rPr lang="en-US" sz="1600" dirty="0" smtClean="0">
                <a:solidFill>
                  <a:srgbClr val="00B050"/>
                </a:solidFill>
                <a:latin typeface="Calibri" panose="020F0502020204030204" pitchFamily="34" charset="0"/>
              </a:rPr>
              <a:t>°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404594" y="1375002"/>
            <a:ext cx="6014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15</a:t>
            </a:r>
            <a:r>
              <a:rPr lang="en-US" sz="2400" b="1" dirty="0" smtClean="0">
                <a:solidFill>
                  <a:srgbClr val="7030A0"/>
                </a:solidFill>
                <a:latin typeface="Calibri" panose="020F0502020204030204" pitchFamily="34" charset="0"/>
              </a:rPr>
              <a:t>°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376347" y="5320446"/>
            <a:ext cx="1086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Andrew =</a:t>
            </a:r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218789" y="5086152"/>
            <a:ext cx="3661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Andrew has half the sweets Cuthbert has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2329461" y="533232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11</a:t>
            </a:r>
            <a:endParaRPr 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229053" y="5607039"/>
            <a:ext cx="3661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Boris has five less sweets than Andrew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635258" y="5826169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Boris =</a:t>
            </a:r>
            <a:endParaRPr lang="en-US" dirty="0"/>
          </a:p>
        </p:txBody>
      </p:sp>
      <p:sp>
        <p:nvSpPr>
          <p:cNvPr id="112" name="Rectangle 111"/>
          <p:cNvSpPr/>
          <p:nvPr/>
        </p:nvSpPr>
        <p:spPr>
          <a:xfrm>
            <a:off x="2332150" y="582651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  <a:endParaRPr lang="en-US" dirty="0"/>
          </a:p>
        </p:txBody>
      </p:sp>
      <p:sp>
        <p:nvSpPr>
          <p:cNvPr id="113" name="Rectangle 112"/>
          <p:cNvSpPr/>
          <p:nvPr/>
        </p:nvSpPr>
        <p:spPr>
          <a:xfrm>
            <a:off x="1204291" y="6252092"/>
            <a:ext cx="13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22 + 11 + 6 =</a:t>
            </a:r>
            <a:endParaRPr lang="en-US" dirty="0"/>
          </a:p>
        </p:txBody>
      </p:sp>
      <p:sp>
        <p:nvSpPr>
          <p:cNvPr id="114" name="Rectangle 113"/>
          <p:cNvSpPr/>
          <p:nvPr/>
        </p:nvSpPr>
        <p:spPr>
          <a:xfrm>
            <a:off x="2474266" y="6194198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39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097842" y="4701391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094818" y="3681591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806315" y="4706610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803401" y="3681591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grpSp>
        <p:nvGrpSpPr>
          <p:cNvPr id="127" name="Group 126"/>
          <p:cNvGrpSpPr/>
          <p:nvPr/>
        </p:nvGrpSpPr>
        <p:grpSpPr>
          <a:xfrm>
            <a:off x="5931633" y="3887256"/>
            <a:ext cx="1320576" cy="1031661"/>
            <a:chOff x="5931633" y="3887256"/>
            <a:chExt cx="1320576" cy="1031661"/>
          </a:xfrm>
        </p:grpSpPr>
        <p:cxnSp>
          <p:nvCxnSpPr>
            <p:cNvPr id="120" name="Straight Connector 119"/>
            <p:cNvCxnSpPr/>
            <p:nvPr/>
          </p:nvCxnSpPr>
          <p:spPr>
            <a:xfrm>
              <a:off x="5949460" y="4918917"/>
              <a:ext cx="1302749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H="1" flipV="1">
              <a:off x="7247709" y="3897804"/>
              <a:ext cx="1016" cy="1021113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5931633" y="3897804"/>
              <a:ext cx="1302749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flipH="1" flipV="1">
              <a:off x="5952645" y="3887256"/>
              <a:ext cx="1016" cy="1021113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TextBox 127"/>
          <p:cNvSpPr txBox="1"/>
          <p:nvPr/>
        </p:nvSpPr>
        <p:spPr>
          <a:xfrm>
            <a:off x="8581533" y="5144648"/>
            <a:ext cx="3290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Area of a rectangle = length x width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651183" y="5377787"/>
            <a:ext cx="2043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Area of rectangle =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0404594" y="5368184"/>
            <a:ext cx="327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5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0543836" y="5369749"/>
            <a:ext cx="327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x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707521" y="5370403"/>
            <a:ext cx="327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4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8653455" y="5639371"/>
            <a:ext cx="2043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Area of rectangle =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0407201" y="5571131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20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5808385" y="5201319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7105056" y="5201319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810490" y="6224975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102133" y="6222773"/>
            <a:ext cx="31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x</a:t>
            </a:r>
            <a:endParaRPr lang="en-US" sz="2000" b="1" dirty="0">
              <a:solidFill>
                <a:srgbClr val="7030A0"/>
              </a:solidFill>
            </a:endParaRPr>
          </a:p>
        </p:txBody>
      </p:sp>
      <p:grpSp>
        <p:nvGrpSpPr>
          <p:cNvPr id="140" name="Group 139"/>
          <p:cNvGrpSpPr/>
          <p:nvPr/>
        </p:nvGrpSpPr>
        <p:grpSpPr>
          <a:xfrm>
            <a:off x="5930416" y="5414911"/>
            <a:ext cx="1320576" cy="1031661"/>
            <a:chOff x="5931633" y="3887256"/>
            <a:chExt cx="1320576" cy="1031661"/>
          </a:xfrm>
        </p:grpSpPr>
        <p:cxnSp>
          <p:nvCxnSpPr>
            <p:cNvPr id="141" name="Straight Connector 140"/>
            <p:cNvCxnSpPr/>
            <p:nvPr/>
          </p:nvCxnSpPr>
          <p:spPr>
            <a:xfrm>
              <a:off x="5949460" y="4918917"/>
              <a:ext cx="1302749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H="1" flipV="1">
              <a:off x="7247709" y="3897804"/>
              <a:ext cx="1016" cy="1021113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5931633" y="3897804"/>
              <a:ext cx="1302749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flipH="1" flipV="1">
              <a:off x="5952645" y="3887256"/>
              <a:ext cx="1016" cy="1021113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868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 animBg="1"/>
      <p:bldP spid="60" grpId="0" animBg="1"/>
      <p:bldP spid="63" grpId="0" animBg="1"/>
      <p:bldP spid="67" grpId="0"/>
      <p:bldP spid="68" grpId="0"/>
      <p:bldP spid="69" grpId="0"/>
      <p:bldP spid="70" grpId="0"/>
      <p:bldP spid="71" grpId="0"/>
      <p:bldP spid="72" grpId="0"/>
      <p:bldP spid="75" grpId="0"/>
      <p:bldP spid="20" grpId="0"/>
      <p:bldP spid="76" grpId="0"/>
      <p:bldP spid="77" grpId="0"/>
      <p:bldP spid="34" grpId="0"/>
      <p:bldP spid="78" grpId="0"/>
      <p:bldP spid="79" grpId="0"/>
      <p:bldP spid="80" grpId="0"/>
      <p:bldP spid="81" grpId="0"/>
      <p:bldP spid="84" grpId="0"/>
      <p:bldP spid="85" grpId="0"/>
      <p:bldP spid="87" grpId="0"/>
      <p:bldP spid="88" grpId="0"/>
      <p:bldP spid="90" grpId="0"/>
      <p:bldP spid="91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 animBg="1"/>
      <p:bldP spid="101" grpId="0"/>
      <p:bldP spid="102" grpId="0"/>
      <p:bldP spid="103" grpId="0" animBg="1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28" grpId="0"/>
      <p:bldP spid="129" grpId="0"/>
      <p:bldP spid="130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94235" y="-13688"/>
            <a:ext cx="49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prstClr val="black"/>
                </a:solidFill>
              </a:rPr>
              <a:t>11+ MATHS ENTRANCE EXAM QUESTIONS</a:t>
            </a: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5" name="TextBox 39"/>
          <p:cNvSpPr txBox="1">
            <a:spLocks noChangeArrowheads="1"/>
          </p:cNvSpPr>
          <p:nvPr/>
        </p:nvSpPr>
        <p:spPr bwMode="auto">
          <a:xfrm>
            <a:off x="-15767" y="267797"/>
            <a:ext cx="6674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53)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099035" y="350869"/>
            <a:ext cx="28059" cy="6507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8096328" y="367428"/>
            <a:ext cx="56233" cy="6784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" y="3429000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9"/>
          <p:cNvSpPr txBox="1">
            <a:spLocks noChangeArrowheads="1"/>
          </p:cNvSpPr>
          <p:nvPr/>
        </p:nvSpPr>
        <p:spPr bwMode="auto">
          <a:xfrm>
            <a:off x="4078025" y="309835"/>
            <a:ext cx="6674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54)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39"/>
          <p:cNvSpPr txBox="1">
            <a:spLocks noChangeArrowheads="1"/>
          </p:cNvSpPr>
          <p:nvPr/>
        </p:nvSpPr>
        <p:spPr bwMode="auto">
          <a:xfrm>
            <a:off x="8082461" y="273567"/>
            <a:ext cx="6674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55)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39"/>
          <p:cNvSpPr txBox="1">
            <a:spLocks noChangeArrowheads="1"/>
          </p:cNvSpPr>
          <p:nvPr/>
        </p:nvSpPr>
        <p:spPr bwMode="auto">
          <a:xfrm>
            <a:off x="10505" y="3447172"/>
            <a:ext cx="6674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56)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39"/>
          <p:cNvSpPr txBox="1">
            <a:spLocks noChangeArrowheads="1"/>
          </p:cNvSpPr>
          <p:nvPr/>
        </p:nvSpPr>
        <p:spPr bwMode="auto">
          <a:xfrm>
            <a:off x="4072755" y="3457679"/>
            <a:ext cx="6674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57)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39"/>
          <p:cNvSpPr txBox="1">
            <a:spLocks noChangeArrowheads="1"/>
          </p:cNvSpPr>
          <p:nvPr/>
        </p:nvSpPr>
        <p:spPr bwMode="auto">
          <a:xfrm>
            <a:off x="8124502" y="3457678"/>
            <a:ext cx="6674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58)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40"/>
          <p:cNvSpPr txBox="1">
            <a:spLocks noChangeArrowheads="1"/>
          </p:cNvSpPr>
          <p:nvPr/>
        </p:nvSpPr>
        <p:spPr bwMode="auto">
          <a:xfrm>
            <a:off x="4454801" y="350869"/>
            <a:ext cx="3627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>
                <a:solidFill>
                  <a:prstClr val="black"/>
                </a:solidFill>
              </a:rPr>
              <a:t>Show that 27 is not a perfect number.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45801" y="559707"/>
            <a:ext cx="1337059" cy="13010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1061029" y="182762"/>
            <a:ext cx="181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1km = _______m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139928" y="871671"/>
            <a:ext cx="1196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1km = _______m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9777" y="973904"/>
                <a:ext cx="1043209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𝐤𝐦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777" y="973904"/>
                <a:ext cx="1043209" cy="470000"/>
              </a:xfrm>
              <a:prstGeom prst="rect">
                <a:avLst/>
              </a:prstGeom>
              <a:blipFill rotWithShape="0">
                <a:blip r:embed="rId2"/>
                <a:stretch>
                  <a:fillRect l="-8772"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40"/>
              <p:cNvSpPr txBox="1">
                <a:spLocks noChangeArrowheads="1"/>
              </p:cNvSpPr>
              <p:nvPr/>
            </p:nvSpPr>
            <p:spPr bwMode="auto">
              <a:xfrm>
                <a:off x="839367" y="1978501"/>
                <a:ext cx="2420301" cy="375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en-US" sz="1800" b="1" dirty="0" smtClean="0"/>
                  <a:t>What is 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𝐤𝐦</m:t>
                        </m:r>
                      </m:e>
                      <m:sup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 smtClean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sup>
                        <m:r>
                          <a:rPr lang="en-US" sz="1800" b="1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 smtClean="0"/>
                  <a:t> 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79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367" y="1978501"/>
                <a:ext cx="2420301" cy="375552"/>
              </a:xfrm>
              <a:prstGeom prst="rect">
                <a:avLst/>
              </a:prstGeom>
              <a:blipFill rotWithShape="0">
                <a:blip r:embed="rId3"/>
                <a:stretch>
                  <a:fillRect l="-2267" t="-8197" b="-262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40"/>
          <p:cNvSpPr txBox="1">
            <a:spLocks noChangeArrowheads="1"/>
          </p:cNvSpPr>
          <p:nvPr/>
        </p:nvSpPr>
        <p:spPr bwMode="auto">
          <a:xfrm>
            <a:off x="4127094" y="1869374"/>
            <a:ext cx="3997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>
                <a:solidFill>
                  <a:prstClr val="black"/>
                </a:solidFill>
              </a:rPr>
              <a:t>Show that 28 is a perfect number.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81" name="TextBox 40"/>
          <p:cNvSpPr txBox="1">
            <a:spLocks noChangeArrowheads="1"/>
          </p:cNvSpPr>
          <p:nvPr/>
        </p:nvSpPr>
        <p:spPr bwMode="auto">
          <a:xfrm>
            <a:off x="8487580" y="294069"/>
            <a:ext cx="3635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Work out the missing angle in the triangle below: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9153672" y="836465"/>
            <a:ext cx="2035440" cy="1274263"/>
          </a:xfrm>
          <a:prstGeom prst="triangle">
            <a:avLst>
              <a:gd name="adj" fmla="val 76804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9475076" y="1828800"/>
            <a:ext cx="202912" cy="283779"/>
          </a:xfrm>
          <a:custGeom>
            <a:avLst/>
            <a:gdLst>
              <a:gd name="connsiteX0" fmla="*/ 0 w 202912"/>
              <a:gd name="connsiteY0" fmla="*/ 0 h 283779"/>
              <a:gd name="connsiteX1" fmla="*/ 189186 w 202912"/>
              <a:gd name="connsiteY1" fmla="*/ 126124 h 283779"/>
              <a:gd name="connsiteX2" fmla="*/ 173421 w 202912"/>
              <a:gd name="connsiteY2" fmla="*/ 283779 h 2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912" h="283779">
                <a:moveTo>
                  <a:pt x="0" y="0"/>
                </a:moveTo>
                <a:cubicBezTo>
                  <a:pt x="80141" y="39414"/>
                  <a:pt x="160283" y="78828"/>
                  <a:pt x="189186" y="126124"/>
                </a:cubicBezTo>
                <a:cubicBezTo>
                  <a:pt x="218090" y="173421"/>
                  <a:pt x="195755" y="228600"/>
                  <a:pt x="173421" y="283779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10462437" y="1031358"/>
            <a:ext cx="350875" cy="142733"/>
          </a:xfrm>
          <a:custGeom>
            <a:avLst/>
            <a:gdLst>
              <a:gd name="connsiteX0" fmla="*/ 0 w 350875"/>
              <a:gd name="connsiteY0" fmla="*/ 0 h 142733"/>
              <a:gd name="connsiteX1" fmla="*/ 138223 w 350875"/>
              <a:gd name="connsiteY1" fmla="*/ 138223 h 142733"/>
              <a:gd name="connsiteX2" fmla="*/ 350875 w 350875"/>
              <a:gd name="connsiteY2" fmla="*/ 95693 h 142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875" h="142733">
                <a:moveTo>
                  <a:pt x="0" y="0"/>
                </a:moveTo>
                <a:cubicBezTo>
                  <a:pt x="39872" y="61137"/>
                  <a:pt x="79744" y="122274"/>
                  <a:pt x="138223" y="138223"/>
                </a:cubicBezTo>
                <a:cubicBezTo>
                  <a:pt x="196702" y="154172"/>
                  <a:pt x="273788" y="124932"/>
                  <a:pt x="350875" y="95693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10811266" y="1743740"/>
            <a:ext cx="235962" cy="350874"/>
          </a:xfrm>
          <a:custGeom>
            <a:avLst/>
            <a:gdLst>
              <a:gd name="connsiteX0" fmla="*/ 2046 w 235962"/>
              <a:gd name="connsiteY0" fmla="*/ 350874 h 350874"/>
              <a:gd name="connsiteX1" fmla="*/ 33943 w 235962"/>
              <a:gd name="connsiteY1" fmla="*/ 180753 h 350874"/>
              <a:gd name="connsiteX2" fmla="*/ 235962 w 235962"/>
              <a:gd name="connsiteY2" fmla="*/ 0 h 35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962" h="350874">
                <a:moveTo>
                  <a:pt x="2046" y="350874"/>
                </a:moveTo>
                <a:cubicBezTo>
                  <a:pt x="-1499" y="295053"/>
                  <a:pt x="-5043" y="239232"/>
                  <a:pt x="33943" y="180753"/>
                </a:cubicBezTo>
                <a:cubicBezTo>
                  <a:pt x="72929" y="122274"/>
                  <a:pt x="154445" y="61137"/>
                  <a:pt x="235962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9630923" y="1700141"/>
            <a:ext cx="49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43°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0350663" y="1131559"/>
            <a:ext cx="49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79°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10570085" y="1654767"/>
            <a:ext cx="360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4" name="TextBox 40"/>
          <p:cNvSpPr txBox="1">
            <a:spLocks noChangeArrowheads="1"/>
          </p:cNvSpPr>
          <p:nvPr/>
        </p:nvSpPr>
        <p:spPr bwMode="auto">
          <a:xfrm>
            <a:off x="407745" y="3487884"/>
            <a:ext cx="3635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Explain how you know that angles in a quadrilateral add up to 360°.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33" name="Parallelogram 32"/>
          <p:cNvSpPr/>
          <p:nvPr/>
        </p:nvSpPr>
        <p:spPr>
          <a:xfrm>
            <a:off x="597764" y="4287585"/>
            <a:ext cx="2710677" cy="915662"/>
          </a:xfrm>
          <a:prstGeom prst="parallelogram">
            <a:avLst>
              <a:gd name="adj" fmla="val 45661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40"/>
          <p:cNvSpPr txBox="1">
            <a:spLocks noChangeArrowheads="1"/>
          </p:cNvSpPr>
          <p:nvPr/>
        </p:nvSpPr>
        <p:spPr bwMode="auto">
          <a:xfrm>
            <a:off x="4499381" y="3485800"/>
            <a:ext cx="3635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What do angles in a pentagon add up to?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35" name="Regular Pentagon 34"/>
          <p:cNvSpPr/>
          <p:nvPr/>
        </p:nvSpPr>
        <p:spPr>
          <a:xfrm>
            <a:off x="5172138" y="3910289"/>
            <a:ext cx="2094716" cy="1854823"/>
          </a:xfrm>
          <a:prstGeom prst="pent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40"/>
          <p:cNvSpPr txBox="1">
            <a:spLocks noChangeArrowheads="1"/>
          </p:cNvSpPr>
          <p:nvPr/>
        </p:nvSpPr>
        <p:spPr bwMode="auto">
          <a:xfrm>
            <a:off x="8535353" y="3470033"/>
            <a:ext cx="3635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prstClr val="black"/>
                </a:solidFill>
              </a:rPr>
              <a:t>What do angles in a octagon add up to?</a:t>
            </a:r>
            <a:endParaRPr lang="en-US" sz="1800" b="1" dirty="0">
              <a:solidFill>
                <a:prstClr val="black"/>
              </a:solidFill>
            </a:endParaRPr>
          </a:p>
        </p:txBody>
      </p:sp>
      <p:sp>
        <p:nvSpPr>
          <p:cNvPr id="87" name="Octagon 86"/>
          <p:cNvSpPr/>
          <p:nvPr/>
        </p:nvSpPr>
        <p:spPr>
          <a:xfrm>
            <a:off x="9511810" y="3921861"/>
            <a:ext cx="1983001" cy="1834374"/>
          </a:xfrm>
          <a:prstGeom prst="oct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520694" y="956589"/>
            <a:ext cx="167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Kilo means 1000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02411" y="170019"/>
            <a:ext cx="64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8001" y="1110477"/>
            <a:ext cx="64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3786" y="2274965"/>
            <a:ext cx="120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1km x 1km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85382" y="2278514"/>
            <a:ext cx="42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=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53309" y="2265683"/>
            <a:ext cx="178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1000m x 1000m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79366" y="2527384"/>
            <a:ext cx="838421" cy="490343"/>
            <a:chOff x="961254" y="2527384"/>
            <a:chExt cx="838421" cy="490343"/>
          </a:xfrm>
        </p:grpSpPr>
        <p:sp>
          <p:nvSpPr>
            <p:cNvPr id="42" name="Rectangle 41"/>
            <p:cNvSpPr/>
            <p:nvPr/>
          </p:nvSpPr>
          <p:spPr>
            <a:xfrm>
              <a:off x="961254" y="2556062"/>
              <a:ext cx="73770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7030A0"/>
                  </a:solidFill>
                </a:rPr>
                <a:t>1km</a:t>
              </a:r>
              <a:endParaRPr lang="en-US" sz="2400" b="1" dirty="0">
                <a:solidFill>
                  <a:srgbClr val="7030A0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10813" y="2527384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 smtClean="0">
                  <a:solidFill>
                    <a:srgbClr val="7030A0"/>
                  </a:solidFill>
                </a:rPr>
                <a:t>2</a:t>
              </a:r>
              <a:endParaRPr lang="en-US" sz="16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1588514" y="261300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=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757153" y="2543995"/>
            <a:ext cx="1617274" cy="489096"/>
            <a:chOff x="1757153" y="2543995"/>
            <a:chExt cx="1617274" cy="489096"/>
          </a:xfrm>
        </p:grpSpPr>
        <p:sp>
          <p:nvSpPr>
            <p:cNvPr id="45" name="Rectangle 44"/>
            <p:cNvSpPr/>
            <p:nvPr/>
          </p:nvSpPr>
          <p:spPr>
            <a:xfrm>
              <a:off x="1757153" y="2571426"/>
              <a:ext cx="15231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7030A0"/>
                  </a:solidFill>
                </a:rPr>
                <a:t>1000000m</a:t>
              </a:r>
              <a:endParaRPr lang="en-US" sz="2400" b="1" dirty="0">
                <a:solidFill>
                  <a:srgbClr val="7030A0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085565" y="2543995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 smtClean="0">
                  <a:solidFill>
                    <a:srgbClr val="7030A0"/>
                  </a:solidFill>
                </a:rPr>
                <a:t>2</a:t>
              </a:r>
              <a:endParaRPr lang="en-US" sz="16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558055" y="1126776"/>
            <a:ext cx="121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1, 3 and 9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98211" y="864191"/>
            <a:ext cx="3152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Find the factors of 27 (excluding 27)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21271" y="1552373"/>
            <a:ext cx="121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 + 3 + 9 =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417263" y="1492203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13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96000" y="1495928"/>
            <a:ext cx="164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Not perfect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09725" y="2384822"/>
            <a:ext cx="189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1, 2, 4, 7 and 14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600483" y="2135705"/>
            <a:ext cx="3152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Find the factors of 28 (excluding 28)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50336" y="2767170"/>
            <a:ext cx="203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 + 2 +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+ 7 + 14 =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953466" y="2707174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28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4747" y="2713272"/>
            <a:ext cx="109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P</a:t>
            </a:r>
            <a:r>
              <a:rPr lang="en-US" sz="2400" b="1" dirty="0" smtClean="0">
                <a:solidFill>
                  <a:srgbClr val="7030A0"/>
                </a:solidFill>
              </a:rPr>
              <a:t>erfect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661067" y="2192694"/>
            <a:ext cx="3152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Angles in  a triangle add up to 180</a:t>
            </a:r>
            <a:r>
              <a:rPr lang="en-US" sz="1600" dirty="0" smtClean="0">
                <a:solidFill>
                  <a:srgbClr val="00B050"/>
                </a:solidFill>
                <a:latin typeface="Calibri" panose="020F0502020204030204" pitchFamily="34" charset="0"/>
              </a:rPr>
              <a:t>°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85701" y="2523852"/>
            <a:ext cx="122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43 + 79 =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275063" y="2514279"/>
            <a:ext cx="64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208523" y="2882398"/>
            <a:ext cx="122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smtClean="0">
                <a:solidFill>
                  <a:srgbClr val="FF0000"/>
                </a:solidFill>
              </a:rPr>
              <a:t> 122 =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305836" y="2837254"/>
            <a:ext cx="6014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58</a:t>
            </a:r>
            <a:r>
              <a:rPr lang="en-US" sz="2400" b="1" dirty="0" smtClean="0">
                <a:solidFill>
                  <a:srgbClr val="7030A0"/>
                </a:solidFill>
                <a:latin typeface="Calibri" panose="020F0502020204030204" pitchFamily="34" charset="0"/>
              </a:rPr>
              <a:t>°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597764" y="4287586"/>
            <a:ext cx="2710677" cy="915661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40522" y="5328873"/>
            <a:ext cx="2270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</a:rPr>
              <a:t>A quadrilateral splits into two triangles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4529" y="4367151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2144811" y="4797616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1099109" y="5913648"/>
            <a:ext cx="1329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+ 180 = 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2254876" y="5859531"/>
            <a:ext cx="7569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360</a:t>
            </a:r>
            <a:r>
              <a:rPr lang="en-US" sz="2400" b="1" dirty="0" smtClean="0">
                <a:solidFill>
                  <a:srgbClr val="7030A0"/>
                </a:solidFill>
                <a:latin typeface="Calibri" panose="020F0502020204030204" pitchFamily="34" charset="0"/>
              </a:rPr>
              <a:t>°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76" name="Straight Connector 75"/>
          <p:cNvCxnSpPr>
            <a:endCxn id="35" idx="5"/>
          </p:cNvCxnSpPr>
          <p:nvPr/>
        </p:nvCxnSpPr>
        <p:spPr>
          <a:xfrm flipV="1">
            <a:off x="5155469" y="4618767"/>
            <a:ext cx="2111383" cy="14607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35" idx="4"/>
          </p:cNvCxnSpPr>
          <p:nvPr/>
        </p:nvCxnSpPr>
        <p:spPr>
          <a:xfrm>
            <a:off x="5168880" y="4633374"/>
            <a:ext cx="1697917" cy="1131733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5912912" y="4169702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90" name="Rectangle 89"/>
          <p:cNvSpPr/>
          <p:nvPr/>
        </p:nvSpPr>
        <p:spPr>
          <a:xfrm>
            <a:off x="6179805" y="4862834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91" name="Rectangle 90"/>
          <p:cNvSpPr/>
          <p:nvPr/>
        </p:nvSpPr>
        <p:spPr>
          <a:xfrm>
            <a:off x="5548798" y="5288107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5449609" y="5936911"/>
            <a:ext cx="1104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 x 3 =</a:t>
            </a:r>
            <a:endParaRPr lang="en-US" dirty="0"/>
          </a:p>
        </p:txBody>
      </p:sp>
      <p:sp>
        <p:nvSpPr>
          <p:cNvPr id="93" name="Rectangle 92"/>
          <p:cNvSpPr/>
          <p:nvPr/>
        </p:nvSpPr>
        <p:spPr>
          <a:xfrm>
            <a:off x="6414031" y="5874842"/>
            <a:ext cx="7569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540</a:t>
            </a:r>
            <a:r>
              <a:rPr lang="en-US" sz="2400" b="1" dirty="0" smtClean="0">
                <a:solidFill>
                  <a:srgbClr val="7030A0"/>
                </a:solidFill>
                <a:latin typeface="Calibri" panose="020F0502020204030204" pitchFamily="34" charset="0"/>
              </a:rPr>
              <a:t>°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94" name="Straight Connector 93"/>
          <p:cNvCxnSpPr>
            <a:endCxn id="87" idx="7"/>
          </p:cNvCxnSpPr>
          <p:nvPr/>
        </p:nvCxnSpPr>
        <p:spPr>
          <a:xfrm flipV="1">
            <a:off x="9514393" y="3921861"/>
            <a:ext cx="1443148" cy="534771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endCxn id="87" idx="0"/>
          </p:cNvCxnSpPr>
          <p:nvPr/>
        </p:nvCxnSpPr>
        <p:spPr>
          <a:xfrm>
            <a:off x="9511810" y="4450155"/>
            <a:ext cx="1983001" cy="8976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endCxn id="87" idx="1"/>
          </p:cNvCxnSpPr>
          <p:nvPr/>
        </p:nvCxnSpPr>
        <p:spPr>
          <a:xfrm>
            <a:off x="9514088" y="4453850"/>
            <a:ext cx="1980723" cy="765115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87" idx="2"/>
          </p:cNvCxnSpPr>
          <p:nvPr/>
        </p:nvCxnSpPr>
        <p:spPr>
          <a:xfrm>
            <a:off x="9511810" y="4448415"/>
            <a:ext cx="1445731" cy="130782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endCxn id="87" idx="3"/>
          </p:cNvCxnSpPr>
          <p:nvPr/>
        </p:nvCxnSpPr>
        <p:spPr>
          <a:xfrm>
            <a:off x="9520823" y="4442024"/>
            <a:ext cx="528257" cy="1314211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9922253" y="3863746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10565159" y="4073905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10797500" y="4573081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10574841" y="5082427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6" name="Rectangle 105"/>
          <p:cNvSpPr/>
          <p:nvPr/>
        </p:nvSpPr>
        <p:spPr>
          <a:xfrm>
            <a:off x="10010580" y="5374400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7" name="Rectangle 106"/>
          <p:cNvSpPr/>
          <p:nvPr/>
        </p:nvSpPr>
        <p:spPr>
          <a:xfrm rot="4138890">
            <a:off x="9370753" y="4963448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8" name="Rectangle 107"/>
          <p:cNvSpPr/>
          <p:nvPr/>
        </p:nvSpPr>
        <p:spPr>
          <a:xfrm>
            <a:off x="9691987" y="5971572"/>
            <a:ext cx="1104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180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° x 6 =</a:t>
            </a:r>
            <a:endParaRPr lang="en-US" dirty="0"/>
          </a:p>
        </p:txBody>
      </p:sp>
      <p:sp>
        <p:nvSpPr>
          <p:cNvPr id="109" name="Rectangle 108"/>
          <p:cNvSpPr/>
          <p:nvPr/>
        </p:nvSpPr>
        <p:spPr>
          <a:xfrm>
            <a:off x="10656409" y="5909503"/>
            <a:ext cx="9124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1080</a:t>
            </a:r>
            <a:r>
              <a:rPr lang="en-US" sz="2400" b="1" dirty="0" smtClean="0">
                <a:solidFill>
                  <a:srgbClr val="7030A0"/>
                </a:solidFill>
                <a:latin typeface="Calibri" panose="020F0502020204030204" pitchFamily="34" charset="0"/>
              </a:rPr>
              <a:t>°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97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37" grpId="0"/>
      <p:bldP spid="38" grpId="0"/>
      <p:bldP spid="39" grpId="0"/>
      <p:bldP spid="40" grpId="0"/>
      <p:bldP spid="7" grpId="0"/>
      <p:bldP spid="48" grpId="0"/>
      <p:bldP spid="49" grpId="0"/>
      <p:bldP spid="50" grpId="0"/>
      <p:bldP spid="52" grpId="0"/>
      <p:bldP spid="53" grpId="0"/>
      <p:bldP spid="54" grpId="0"/>
      <p:bldP spid="55" grpId="0"/>
      <p:bldP spid="56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70" grpId="0"/>
      <p:bldP spid="23" grpId="0"/>
      <p:bldP spid="72" grpId="0"/>
      <p:bldP spid="74" grpId="0"/>
      <p:bldP spid="75" grpId="0"/>
      <p:bldP spid="89" grpId="0"/>
      <p:bldP spid="90" grpId="0"/>
      <p:bldP spid="91" grpId="0"/>
      <p:bldP spid="92" grpId="0"/>
      <p:bldP spid="93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48901" y="0"/>
            <a:ext cx="49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11+ MATHS ENTRANCE EXAM QUESTIONS</a:t>
            </a:r>
            <a:endParaRPr lang="en-US" sz="2000" b="1" u="sng" dirty="0"/>
          </a:p>
        </p:txBody>
      </p:sp>
      <p:sp>
        <p:nvSpPr>
          <p:cNvPr id="5" name="TextBox 39"/>
          <p:cNvSpPr txBox="1">
            <a:spLocks noChangeArrowheads="1"/>
          </p:cNvSpPr>
          <p:nvPr/>
        </p:nvSpPr>
        <p:spPr bwMode="auto">
          <a:xfrm>
            <a:off x="-1" y="315095"/>
            <a:ext cx="6493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24)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072755" y="3415941"/>
            <a:ext cx="26281" cy="3538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024477" y="420018"/>
            <a:ext cx="26446" cy="3012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" y="3429000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9"/>
          <p:cNvSpPr txBox="1">
            <a:spLocks noChangeArrowheads="1"/>
          </p:cNvSpPr>
          <p:nvPr/>
        </p:nvSpPr>
        <p:spPr bwMode="auto">
          <a:xfrm>
            <a:off x="8081981" y="273567"/>
            <a:ext cx="5622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25)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39"/>
          <p:cNvSpPr txBox="1">
            <a:spLocks noChangeArrowheads="1"/>
          </p:cNvSpPr>
          <p:nvPr/>
        </p:nvSpPr>
        <p:spPr bwMode="auto">
          <a:xfrm>
            <a:off x="-36792" y="3431406"/>
            <a:ext cx="638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25)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39"/>
          <p:cNvSpPr txBox="1">
            <a:spLocks noChangeArrowheads="1"/>
          </p:cNvSpPr>
          <p:nvPr/>
        </p:nvSpPr>
        <p:spPr bwMode="auto">
          <a:xfrm>
            <a:off x="4072755" y="3457679"/>
            <a:ext cx="67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26)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40"/>
          <p:cNvSpPr txBox="1">
            <a:spLocks noChangeArrowheads="1"/>
          </p:cNvSpPr>
          <p:nvPr/>
        </p:nvSpPr>
        <p:spPr bwMode="auto">
          <a:xfrm>
            <a:off x="-54050" y="1719315"/>
            <a:ext cx="418255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The tortoise and the hare agree to have a race. The hare lets the tortoise have a     50 metre start. The hare can run 5 metres in one second. It takes the tortoise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3 seconds to run 5 metres. How long does it take the hare to catch the tortoise?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84" y="495568"/>
            <a:ext cx="3225205" cy="1270284"/>
          </a:xfrm>
          <a:prstGeom prst="rect">
            <a:avLst/>
          </a:prstGeom>
        </p:spPr>
      </p:pic>
      <p:sp>
        <p:nvSpPr>
          <p:cNvPr id="17" name="TextBox 40"/>
          <p:cNvSpPr txBox="1">
            <a:spLocks noChangeArrowheads="1"/>
          </p:cNvSpPr>
          <p:nvPr/>
        </p:nvSpPr>
        <p:spPr bwMode="auto">
          <a:xfrm>
            <a:off x="8509804" y="288956"/>
            <a:ext cx="3681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A box of cereal contains 375g.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238" y="649911"/>
            <a:ext cx="1971228" cy="2487428"/>
          </a:xfrm>
          <a:prstGeom prst="rect">
            <a:avLst/>
          </a:prstGeom>
        </p:spPr>
      </p:pic>
      <p:sp>
        <p:nvSpPr>
          <p:cNvPr id="19" name="TextBox 40"/>
          <p:cNvSpPr txBox="1">
            <a:spLocks noChangeArrowheads="1"/>
          </p:cNvSpPr>
          <p:nvPr/>
        </p:nvSpPr>
        <p:spPr bwMode="auto">
          <a:xfrm>
            <a:off x="8003631" y="3077840"/>
            <a:ext cx="4703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The supermarket has 18 boxes on the shelf.</a:t>
            </a:r>
            <a:endParaRPr lang="en-US" sz="1800" b="1" dirty="0"/>
          </a:p>
        </p:txBody>
      </p:sp>
      <p:sp>
        <p:nvSpPr>
          <p:cNvPr id="20" name="TextBox 40"/>
          <p:cNvSpPr txBox="1">
            <a:spLocks noChangeArrowheads="1"/>
          </p:cNvSpPr>
          <p:nvPr/>
        </p:nvSpPr>
        <p:spPr bwMode="auto">
          <a:xfrm>
            <a:off x="-50499" y="3704453"/>
            <a:ext cx="427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/>
              <a:t>What is the total amount of cereal in these boxes?</a:t>
            </a:r>
            <a:endParaRPr lang="en-US" sz="1800" b="1" dirty="0"/>
          </a:p>
        </p:txBody>
      </p:sp>
      <p:sp>
        <p:nvSpPr>
          <p:cNvPr id="21" name="TextBox 40"/>
          <p:cNvSpPr txBox="1">
            <a:spLocks noChangeArrowheads="1"/>
          </p:cNvSpPr>
          <p:nvPr/>
        </p:nvSpPr>
        <p:spPr bwMode="auto">
          <a:xfrm>
            <a:off x="-75860" y="5093256"/>
            <a:ext cx="427885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/>
              <a:t>Jane eats 40g of cereal each day for breakfast. For how many days will a box of cereal last her?</a:t>
            </a:r>
            <a:endParaRPr lang="en-US" sz="1800" b="1" dirty="0"/>
          </a:p>
        </p:txBody>
      </p:sp>
      <p:sp>
        <p:nvSpPr>
          <p:cNvPr id="22" name="TextBox 40"/>
          <p:cNvSpPr txBox="1">
            <a:spLocks noChangeArrowheads="1"/>
          </p:cNvSpPr>
          <p:nvPr/>
        </p:nvSpPr>
        <p:spPr bwMode="auto">
          <a:xfrm>
            <a:off x="4469700" y="3447172"/>
            <a:ext cx="37452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/>
              <a:t>A new TV costs £60 deposit and then £40 per month for 1 year.</a:t>
            </a:r>
            <a:endParaRPr lang="en-US" sz="18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373" y="4093535"/>
            <a:ext cx="1896585" cy="153451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4175311" y="6016586"/>
          <a:ext cx="3817808" cy="741680"/>
        </p:xfrm>
        <a:graphic>
          <a:graphicData uri="http://schemas.openxmlformats.org/drawingml/2006/table">
            <a:tbl>
              <a:tblPr firstRow="1" bandRow="1"/>
              <a:tblGrid>
                <a:gridCol w="1090373"/>
                <a:gridCol w="709448"/>
                <a:gridCol w="693683"/>
                <a:gridCol w="662152"/>
                <a:gridCol w="6621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paid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£60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£100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£140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£180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40"/>
          <p:cNvSpPr txBox="1">
            <a:spLocks noChangeArrowheads="1"/>
          </p:cNvSpPr>
          <p:nvPr/>
        </p:nvSpPr>
        <p:spPr bwMode="auto">
          <a:xfrm>
            <a:off x="8050929" y="3498294"/>
            <a:ext cx="4703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(a) </a:t>
            </a:r>
            <a:r>
              <a:rPr lang="en-US" sz="1800" b="1" dirty="0" smtClean="0"/>
              <a:t>How much will be paid after 5 months?</a:t>
            </a:r>
            <a:endParaRPr lang="en-US" sz="1800" b="1" dirty="0"/>
          </a:p>
        </p:txBody>
      </p: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8071775" y="4718896"/>
            <a:ext cx="42621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(b) </a:t>
            </a:r>
            <a:r>
              <a:rPr lang="en-US" sz="1800" b="1" dirty="0" smtClean="0"/>
              <a:t>After how many months will he have paid £340?</a:t>
            </a:r>
            <a:endParaRPr lang="en-US" sz="1800" b="1" dirty="0"/>
          </a:p>
        </p:txBody>
      </p:sp>
      <p:sp>
        <p:nvSpPr>
          <p:cNvPr id="27" name="TextBox 40"/>
          <p:cNvSpPr txBox="1">
            <a:spLocks noChangeArrowheads="1"/>
          </p:cNvSpPr>
          <p:nvPr/>
        </p:nvSpPr>
        <p:spPr bwMode="auto">
          <a:xfrm>
            <a:off x="8049795" y="5693420"/>
            <a:ext cx="42621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(c) </a:t>
            </a:r>
            <a:r>
              <a:rPr lang="en-US" sz="1800" b="1" dirty="0" smtClean="0"/>
              <a:t>Write a formula to connect the number of month (M) and the amount paid (P).</a:t>
            </a:r>
            <a:endParaRPr lang="en-US" sz="1800" b="1" dirty="0"/>
          </a:p>
        </p:txBody>
      </p:sp>
      <p:sp>
        <p:nvSpPr>
          <p:cNvPr id="29" name="Oval 28"/>
          <p:cNvSpPr/>
          <p:nvPr/>
        </p:nvSpPr>
        <p:spPr>
          <a:xfrm>
            <a:off x="1885140" y="2280224"/>
            <a:ext cx="500246" cy="34380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3060186" y="2310807"/>
            <a:ext cx="1046489" cy="284132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563741" y="2572808"/>
            <a:ext cx="1270260" cy="312545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2860542" y="2588053"/>
            <a:ext cx="877113" cy="284132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-22710" y="2857686"/>
            <a:ext cx="1072323" cy="312545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636064" y="2842058"/>
            <a:ext cx="883284" cy="34380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434759" y="228503"/>
            <a:ext cx="14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3 secs = 5m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6076" y="112023"/>
            <a:ext cx="14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3 secs =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319114" y="120695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15m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64794" y="314307"/>
            <a:ext cx="83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HARE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85802" y="298680"/>
            <a:ext cx="121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TORTOISE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90774" y="566848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0m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50188" y="566031"/>
            <a:ext cx="63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50m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013971" y="841456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996121" y="782291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22890" y="1025849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15m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6764583" y="850732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746733" y="791567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73502" y="1035125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5m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5015297" y="1311907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997447" y="1252742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724216" y="1496300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30m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6765909" y="1321183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748059" y="1262018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474828" y="1505576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60m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5015295" y="1773085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997445" y="1713920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724214" y="1957478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5m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6765907" y="1782361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748057" y="1723196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474826" y="1966754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65m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031199" y="2234263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013349" y="2175098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740118" y="2418656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60m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6781811" y="2243539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763961" y="2184374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490730" y="2427932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70m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6783138" y="2706037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765288" y="2646872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492057" y="2890430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75m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3" name="Straight Arrow Connector 92"/>
          <p:cNvCxnSpPr/>
          <p:nvPr/>
        </p:nvCxnSpPr>
        <p:spPr>
          <a:xfrm>
            <a:off x="5033849" y="2698090"/>
            <a:ext cx="6783" cy="26197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015999" y="2638925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3 secs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742768" y="2882483"/>
            <a:ext cx="6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75m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202141" y="3033136"/>
            <a:ext cx="15890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15 seconds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641562" y="4042584"/>
            <a:ext cx="87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3   7   5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1408" y="4032947"/>
            <a:ext cx="284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71408" y="4284949"/>
            <a:ext cx="388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668732" y="4342303"/>
            <a:ext cx="102109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2668732" y="4611282"/>
            <a:ext cx="102109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2683362" y="4874244"/>
            <a:ext cx="102109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H="1">
            <a:off x="3462491" y="4130863"/>
            <a:ext cx="2023" cy="7499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3193911" y="4121557"/>
            <a:ext cx="2023" cy="7499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2927170" y="4130816"/>
            <a:ext cx="2023" cy="7499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H="1">
            <a:off x="2670941" y="4130815"/>
            <a:ext cx="2023" cy="7499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H="1">
            <a:off x="2671014" y="4348321"/>
            <a:ext cx="263183" cy="2597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H="1">
            <a:off x="2916417" y="4354104"/>
            <a:ext cx="263183" cy="2597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H="1">
            <a:off x="3196694" y="4347159"/>
            <a:ext cx="263183" cy="2597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H="1">
            <a:off x="2662481" y="4617763"/>
            <a:ext cx="263183" cy="2597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>
            <a:off x="2907885" y="4617763"/>
            <a:ext cx="284163" cy="2655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>
            <a:off x="3188161" y="4616601"/>
            <a:ext cx="263183" cy="2597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602443" y="4282684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/>
          </a:p>
        </p:txBody>
      </p:sp>
      <p:sp>
        <p:nvSpPr>
          <p:cNvPr id="110" name="Rectangle 109"/>
          <p:cNvSpPr/>
          <p:nvPr/>
        </p:nvSpPr>
        <p:spPr>
          <a:xfrm>
            <a:off x="2732170" y="4377834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</a:t>
            </a:r>
            <a:endParaRPr lang="en-US" sz="1400" dirty="0"/>
          </a:p>
        </p:txBody>
      </p:sp>
      <p:sp>
        <p:nvSpPr>
          <p:cNvPr id="111" name="Rectangle 110"/>
          <p:cNvSpPr/>
          <p:nvPr/>
        </p:nvSpPr>
        <p:spPr>
          <a:xfrm>
            <a:off x="2872491" y="4267874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/>
          </a:p>
        </p:txBody>
      </p:sp>
      <p:sp>
        <p:nvSpPr>
          <p:cNvPr id="112" name="Rectangle 111"/>
          <p:cNvSpPr/>
          <p:nvPr/>
        </p:nvSpPr>
        <p:spPr>
          <a:xfrm>
            <a:off x="2995953" y="4381090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133972" y="4267874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53117" y="437586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5</a:t>
            </a:r>
            <a:endParaRPr lang="en-US" sz="1400" dirty="0"/>
          </a:p>
        </p:txBody>
      </p:sp>
      <p:sp>
        <p:nvSpPr>
          <p:cNvPr id="115" name="Rectangle 114"/>
          <p:cNvSpPr/>
          <p:nvPr/>
        </p:nvSpPr>
        <p:spPr>
          <a:xfrm>
            <a:off x="2615332" y="4523572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2</a:t>
            </a:r>
            <a:endParaRPr lang="en-US" sz="1400" dirty="0"/>
          </a:p>
        </p:txBody>
      </p:sp>
      <p:sp>
        <p:nvSpPr>
          <p:cNvPr id="116" name="Rectangle 115"/>
          <p:cNvSpPr/>
          <p:nvPr/>
        </p:nvSpPr>
        <p:spPr>
          <a:xfrm>
            <a:off x="2724825" y="4639585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4</a:t>
            </a:r>
            <a:endParaRPr lang="en-US" sz="1400" dirty="0"/>
          </a:p>
        </p:txBody>
      </p:sp>
      <p:sp>
        <p:nvSpPr>
          <p:cNvPr id="117" name="Rectangle 116"/>
          <p:cNvSpPr/>
          <p:nvPr/>
        </p:nvSpPr>
        <p:spPr>
          <a:xfrm>
            <a:off x="2871731" y="4531722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5</a:t>
            </a:r>
            <a:endParaRPr lang="en-US" sz="1400" dirty="0"/>
          </a:p>
        </p:txBody>
      </p:sp>
      <p:sp>
        <p:nvSpPr>
          <p:cNvPr id="118" name="Rectangle 117"/>
          <p:cNvSpPr/>
          <p:nvPr/>
        </p:nvSpPr>
        <p:spPr>
          <a:xfrm>
            <a:off x="2981399" y="4633024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129063" y="4531143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4</a:t>
            </a:r>
            <a:endParaRPr lang="en-US" sz="1400" dirty="0"/>
          </a:p>
        </p:txBody>
      </p:sp>
      <p:sp>
        <p:nvSpPr>
          <p:cNvPr id="120" name="Rectangle 119"/>
          <p:cNvSpPr/>
          <p:nvPr/>
        </p:nvSpPr>
        <p:spPr>
          <a:xfrm>
            <a:off x="3253117" y="4634186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215322" y="480853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0</a:t>
            </a:r>
            <a:endParaRPr lang="en-US" sz="1400" dirty="0"/>
          </a:p>
        </p:txBody>
      </p:sp>
      <p:sp>
        <p:nvSpPr>
          <p:cNvPr id="122" name="Rectangle 121"/>
          <p:cNvSpPr/>
          <p:nvPr/>
        </p:nvSpPr>
        <p:spPr>
          <a:xfrm>
            <a:off x="2928914" y="4815295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5</a:t>
            </a:r>
            <a:endParaRPr lang="en-US" sz="1400" dirty="0"/>
          </a:p>
        </p:txBody>
      </p:sp>
      <p:sp>
        <p:nvSpPr>
          <p:cNvPr id="123" name="Rectangle 122"/>
          <p:cNvSpPr/>
          <p:nvPr/>
        </p:nvSpPr>
        <p:spPr>
          <a:xfrm>
            <a:off x="2671771" y="4698183"/>
            <a:ext cx="2423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rgbClr val="FF0000"/>
                </a:solidFill>
              </a:rPr>
              <a:t>1</a:t>
            </a:r>
            <a:endParaRPr lang="en-US" sz="900" dirty="0"/>
          </a:p>
        </p:txBody>
      </p:sp>
      <p:sp>
        <p:nvSpPr>
          <p:cNvPr id="124" name="Rectangle 123"/>
          <p:cNvSpPr/>
          <p:nvPr/>
        </p:nvSpPr>
        <p:spPr>
          <a:xfrm>
            <a:off x="2649127" y="4821056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125" name="Rectangle 124"/>
          <p:cNvSpPr/>
          <p:nvPr/>
        </p:nvSpPr>
        <p:spPr>
          <a:xfrm>
            <a:off x="2582769" y="4660390"/>
            <a:ext cx="2423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rgbClr val="FF0000"/>
                </a:solidFill>
              </a:rPr>
              <a:t>1</a:t>
            </a:r>
            <a:endParaRPr lang="en-US" sz="900" dirty="0"/>
          </a:p>
        </p:txBody>
      </p:sp>
      <p:sp>
        <p:nvSpPr>
          <p:cNvPr id="126" name="Rectangle 125"/>
          <p:cNvSpPr/>
          <p:nvPr/>
        </p:nvSpPr>
        <p:spPr>
          <a:xfrm>
            <a:off x="2443082" y="4607697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127" name="Rectangle 126"/>
          <p:cNvSpPr/>
          <p:nvPr/>
        </p:nvSpPr>
        <p:spPr>
          <a:xfrm>
            <a:off x="1229104" y="3909599"/>
            <a:ext cx="9525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6750g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-31532" y="5878173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1</a:t>
            </a:r>
            <a:r>
              <a:rPr lang="en-US" sz="1400" u="sng" dirty="0" smtClean="0">
                <a:solidFill>
                  <a:srgbClr val="00B050"/>
                </a:solidFill>
              </a:rPr>
              <a:t> day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9318" y="6082588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67711" y="5888681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2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24327" y="6093096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003743" y="5888679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3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44593" y="6093094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571305" y="5888683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4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580623" y="6093098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160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138860" y="5888683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5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179710" y="6093098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669636" y="5883426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6</a:t>
            </a:r>
            <a:r>
              <a:rPr lang="en-US" sz="1400" u="sng" dirty="0" smtClean="0">
                <a:solidFill>
                  <a:srgbClr val="00B050"/>
                </a:solidFill>
              </a:rPr>
              <a:t>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710486" y="6087841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240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258213" y="5888683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7</a:t>
            </a:r>
            <a:r>
              <a:rPr lang="en-US" sz="1400" u="sng" dirty="0" smtClean="0">
                <a:solidFill>
                  <a:srgbClr val="00B050"/>
                </a:solidFill>
              </a:rPr>
              <a:t>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3299063" y="6093098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280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-21020" y="6361651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8</a:t>
            </a:r>
            <a:r>
              <a:rPr lang="en-US" sz="1400" u="sng" dirty="0" smtClean="0">
                <a:solidFill>
                  <a:srgbClr val="00B050"/>
                </a:solidFill>
              </a:rPr>
              <a:t>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9830" y="6566066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78068" y="6361651"/>
            <a:ext cx="66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9</a:t>
            </a:r>
            <a:r>
              <a:rPr lang="en-US" sz="1400" u="sng" dirty="0" smtClean="0">
                <a:solidFill>
                  <a:srgbClr val="00B050"/>
                </a:solidFill>
              </a:rPr>
              <a:t>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18918" y="6566066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360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161403" y="6361651"/>
            <a:ext cx="761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10 days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202253" y="6566066"/>
            <a:ext cx="58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413322" y="5554921"/>
            <a:ext cx="988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9 days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556167" y="3792261"/>
            <a:ext cx="3528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Total paid increases by £40 every month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250622" y="4149220"/>
            <a:ext cx="972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4 months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384265" y="4353635"/>
            <a:ext cx="680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£220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9217288" y="4149220"/>
            <a:ext cx="883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>
                <a:solidFill>
                  <a:srgbClr val="00B050"/>
                </a:solidFill>
              </a:rPr>
              <a:t>5 months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9352731" y="4353635"/>
            <a:ext cx="71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£260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10893665" y="4291581"/>
            <a:ext cx="806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£260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0564264" y="4962777"/>
            <a:ext cx="883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6</a:t>
            </a:r>
            <a:r>
              <a:rPr lang="en-US" sz="1400" u="sng" dirty="0" smtClean="0">
                <a:solidFill>
                  <a:srgbClr val="00B050"/>
                </a:solidFill>
              </a:rPr>
              <a:t> months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699707" y="5167192"/>
            <a:ext cx="71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£300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1367386" y="4947557"/>
            <a:ext cx="883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00B050"/>
                </a:solidFill>
              </a:rPr>
              <a:t>7</a:t>
            </a:r>
            <a:r>
              <a:rPr lang="en-US" sz="1400" u="sng" dirty="0" smtClean="0">
                <a:solidFill>
                  <a:srgbClr val="00B050"/>
                </a:solidFill>
              </a:rPr>
              <a:t> months</a:t>
            </a:r>
            <a:endParaRPr lang="en-US" sz="1400" u="sng" dirty="0">
              <a:solidFill>
                <a:srgbClr val="00B05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1502829" y="5151972"/>
            <a:ext cx="71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£340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9149312" y="4927382"/>
            <a:ext cx="1382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7 months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8938179" y="6265814"/>
            <a:ext cx="18229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P = 60 + 40M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3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4" grpId="0"/>
      <p:bldP spid="71" grpId="0"/>
      <p:bldP spid="74" grpId="0"/>
      <p:bldP spid="77" grpId="0"/>
      <p:bldP spid="80" grpId="0"/>
      <p:bldP spid="83" grpId="0"/>
      <p:bldP spid="86" grpId="0"/>
      <p:bldP spid="89" grpId="0"/>
      <p:bldP spid="92" grpId="0"/>
      <p:bldP spid="95" grpId="0"/>
      <p:bldP spid="96" grpId="0"/>
      <p:bldP spid="68" grpId="0"/>
      <p:bldP spid="3" grpId="0"/>
      <p:bldP spid="97" grpId="0"/>
      <p:bldP spid="127" grpId="0"/>
      <p:bldP spid="129" grpId="0"/>
      <p:bldP spid="131" grpId="0"/>
      <p:bldP spid="133" grpId="0"/>
      <p:bldP spid="135" grpId="0"/>
      <p:bldP spid="137" grpId="0"/>
      <p:bldP spid="141" grpId="0"/>
      <p:bldP spid="143" grpId="0"/>
      <p:bldP spid="145" grpId="0"/>
      <p:bldP spid="147" grpId="0"/>
      <p:bldP spid="149" grpId="0"/>
      <p:bldP spid="150" grpId="0"/>
      <p:bldP spid="151" grpId="0"/>
      <p:bldP spid="153" grpId="0"/>
      <p:bldP spid="155" grpId="0"/>
      <p:bldP spid="161" grpId="0"/>
      <p:bldP spid="164" grpId="0"/>
      <p:bldP spid="166" grpId="0"/>
      <p:bldP spid="167" grpId="0"/>
      <p:bldP spid="16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1375</Words>
  <Application>Microsoft Office PowerPoint</Application>
  <PresentationFormat>Widescreen</PresentationFormat>
  <Paragraphs>328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 Mistry</dc:creator>
  <cp:lastModifiedBy>sarika sareen</cp:lastModifiedBy>
  <cp:revision>4</cp:revision>
  <dcterms:created xsi:type="dcterms:W3CDTF">2015-02-17T20:45:11Z</dcterms:created>
  <dcterms:modified xsi:type="dcterms:W3CDTF">2016-08-23T11:03:20Z</dcterms:modified>
</cp:coreProperties>
</file>